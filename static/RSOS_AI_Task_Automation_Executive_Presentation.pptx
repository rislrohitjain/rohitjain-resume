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1E1B4B"/>
          </a:solidFill>
          <a:ln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18CF8"/>
                </a:solidFill>
              </a:defRPr>
            </a:pPr>
            <a:r>
              <a:t>⚡ PRODUCTION-GRADE AI 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RSOS AI Support Mail Automation &amp;</a:t>
            </a:r>
            <a:br/>
            <a:r>
              <a:t>Multi-Day Work Trail Platform</a:t>
            </a:r>
          </a:p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End-to-End Autonomous Email Ingestion, LangGraph State Machine, Local Ollama LLM, Multi-Day Trail Intelligence &amp; Maker-Checker Audit Governance.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10728655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LEAD &amp; ARCHITECT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Lead Developer: Rohit Jain  |  Role: Senior AI &amp; Backend Solutions Engineer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Core Tech Stack: Python 3.11+, FastAPI, LangGraph, Ollama (llama3.2), PostgreSQL 16, Docker Compose, OpenPyXL, Tailwind CSS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Portfolio Showcase: https://rohitjain-resume.vercel.app/  |  Status: 100% Production Verified (742 Tasks Managed, Zero Cloud Data Leak)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RSOS AI SUPPORT AUTOMATION &amp; MULTI-DAY TRAIL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Context: High-Volume Operational Inquiries &amp; Trail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INBOX FLOOD &amp; BACKLOG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100+ daily support emails across Admissions, Exams, Results, and Bank Reconciliations.</a:t>
            </a:r>
            <a:br/>
            <a:br/>
            <a:r>
              <a:t>• Overwhelmed staff relying on manual ticket creation and manual categorization.</a:t>
            </a:r>
            <a:br/>
            <a:br/>
            <a:r>
              <a:t>• Turnaround time exceeded 48-72 hours, resulting in student and center escalation.</a:t>
            </a:r>
            <a:br/>
            <a:br/>
            <a:r>
              <a:t>• Critical receipts and PDF challans buried across mail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2. THE MULTI-DAY THREAD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85.8% (637/742) of operational emails are multi-day thread follow-ups ('Re:/Fw:').</a:t>
            </a:r>
            <a:br/>
            <a:br/>
            <a:r>
              <a:t>• Traditional tools treat follow-ups as duplicates (ignoring them) or standalone (losing context).</a:t>
            </a:r>
            <a:br/>
            <a:br/>
            <a:r>
              <a:t>• Multi-day effort (Day 1 Inward -&gt; Day +3 Investigation -&gt; Day +5 Approval) was uncredited.</a:t>
            </a:r>
            <a:br/>
            <a:br/>
            <a:r>
              <a:t>• Lack of unified timeline between root inquiry and final administrative sign-off.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3. SECURITY &amp; AUDIT RIGOR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Strict prohibition on exposing student roll numbers or marks to 3rd-party public cloud LLMs.</a:t>
            </a:r>
            <a:br/>
            <a:br/>
            <a:r>
              <a:t>• Need for 100% on-premises, local-first LLM inference.</a:t>
            </a:r>
            <a:br/>
            <a:br/>
            <a:r>
              <a:t>• Mandatory Maker-Checker governance: actions require engineer execution and lead approval.</a:t>
            </a:r>
            <a:br/>
            <a:br/>
            <a:r>
              <a:t>• Strict requirement for single-click daily Google Sheet and Styled Excel export formats.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RSOS AI SUPPORT AUTOMATION &amp; MULTI-DAY TRAIL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End-to-End System Architecture Flow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stem_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CYCLIC &amp; DIRECTED EXECUTION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LangGraph Pipeline State Machine Flow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Node 1: IMAP Fetch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Pulls RFC 822 emails via SSL IMAP (Port 993). Applies IST (UTC+5:30) date range filter. Decouples attachments.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Node 2: Guardrails &amp; Deduplication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RFC 822 Message-ID primary key check. Quarantines automated mailer bounces, spam keywords &amp; empty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Node 3: Multi-Day Trail Discovery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Discovers root initiating ticket. Computes elapsed day offset ('Day 1 Initial', 'Day +3', 'Day +5'). Links thread hierarchy.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7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Node 4: Local Ollama LLM Inference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Executes llama3.2:3b locally. Extracts Module, Priority, Due Date. Generates contextual 'What I Have Done' (work_done).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7607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Node 5: PostgreSQL ACID &amp; Audit Log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Commits atomic transaction to DB. Appends immutable Maker-Checker audit log entry (TRAIL_CONTINUED / INGESTED).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INNOVATION &amp; OPERATIONAL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Multi-Day Communication Trail &amp; Elapsed Offset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How the System Recognizes Multi-Day Effort Across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Operational Reality: </a:t>
            </a:r>
            <a:r>
              <a:rPr sz="1200" b="0">
                <a:solidFill>
                  <a:srgbClr val="FFFFFF"/>
                </a:solidFill>
              </a:rPr>
              <a:t>Over 85% of RSOS support tasks span several days (investigating center capacity, collating marks, waiting for approvals). The engine ensures every day's communication is logged as a legitimate daily work entry with its exact execution date.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Thread Discovery Algorithm: </a:t>
            </a:r>
            <a:r>
              <a:rPr sz="1200" b="0">
                <a:solidFill>
                  <a:srgbClr val="FFFFFF"/>
                </a:solidFill>
              </a:rPr>
              <a:t>Cleans forwarded subjects ('Re: Fw: Regarding center enrollment data'). Traces RFC 822 In-Reply-To and References headers to locate the root initiating task (Day 1).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Elapsed Day Math (Day +N): </a:t>
            </a:r>
            <a:r>
              <a:rPr sz="1200" b="0">
                <a:solidFill>
                  <a:srgbClr val="FFFFFF"/>
                </a:solidFill>
              </a:rPr>
              <a:t>Calculates elapsed calendar days from the root ticket date. Generates explicit milestone badges: [Trail: Day 1 Initial] -&gt; [Trail: Day +3 Follow-up] -&gt; [Trail: Day +5 Follow-up].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Contextual Work Description: </a:t>
            </a:r>
            <a:r>
              <a:rPr sz="1200" b="0">
                <a:solidFill>
                  <a:srgbClr val="FFFFFF"/>
                </a:solidFill>
              </a:rPr>
              <a:t>Rather than static template text, the local LLM evaluates the specific email body to formulate dynamic 'What I Have Done' (e.g. Day 1: audited data -&gt; Day 3: replied with investigation findings -&gt; Day 5: reviewed approval &amp; executed changes).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Auto Directive Parsing: </a:t>
            </a:r>
            <a:r>
              <a:rPr sz="1200" b="0">
                <a:solidFill>
                  <a:srgbClr val="FFFFFF"/>
                </a:solidFill>
              </a:rPr>
              <a:t>Detects official approval directives ('Please proceed', 'Approved', 'Updated'). Automatically transitions task status from 'In progress' to 'Done'.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1: Operations Dashboard &amp; Dual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KPI Metric Bar: </a:t>
            </a:r>
            <a:r>
              <a:rPr sz="1100" b="0">
                <a:solidFill>
                  <a:srgbClr val="94A3B8"/>
                </a:solidFill>
              </a:rPr>
              <a:t>Live counters for Total Tasks (742), Multi-Day Trails (637), Completed (709), Attachments (367), and Ollama Latency (&lt;1s).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Dual-View Switcher: </a:t>
            </a:r>
            <a:r>
              <a:rPr sz="1100" b="0">
                <a:solidFill>
                  <a:srgbClr val="94A3B8"/>
                </a:solidFill>
              </a:rPr>
              <a:t>Toggle instantly between Standard Operations Table (rich badges, actions) and Google Sheet View (clean TSV formatted table).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Universal Search &amp; Filter: </a:t>
            </a:r>
            <a:r>
              <a:rPr sz="1100" b="0">
                <a:solidFill>
                  <a:srgbClr val="94A3B8"/>
                </a:solidFill>
              </a:rPr>
              <a:t>Search across sanitized tickets, IDs, sender domains, task summaries, and contextual work done.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Date Range Presets: </a:t>
            </a:r>
            <a:r>
              <a:rPr sz="1100" b="0">
                <a:solidFill>
                  <a:srgbClr val="94A3B8"/>
                </a:solidFill>
              </a:rPr>
              <a:t>Filter by Today, Yesterday, Last 7 Days, Month, or custom date intervals.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2: Multi-Day Trail &amp; Work Timeline Modal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Visual Step Progression: </a:t>
            </a:r>
            <a:r>
              <a:rPr sz="1100" b="0">
                <a:solidFill>
                  <a:srgbClr val="94A3B8"/>
                </a:solidFill>
              </a:rPr>
              <a:t>Horizontal connected node chain illustrating Day 1 (Initial) -&gt; Day +3 (Investigation) -&gt; Day +5 (Approval).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Clickable Navigation: </a:t>
            </a:r>
            <a:r>
              <a:rPr sz="1100" b="0">
                <a:solidFill>
                  <a:srgbClr val="94A3B8"/>
                </a:solidFill>
              </a:rPr>
              <a:t>Click any timeline step to inspect previous correspondence, investigation notes, and attachments.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Elapsed Day Badges: </a:t>
            </a:r>
            <a:r>
              <a:rPr sz="1100" b="0">
                <a:solidFill>
                  <a:srgbClr val="94A3B8"/>
                </a:solidFill>
              </a:rPr>
              <a:t>Color-coded status pills showing current status at each step (Done / In progress).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Audit Continuity: </a:t>
            </a:r>
            <a:r>
              <a:rPr sz="1100" b="0">
                <a:solidFill>
                  <a:srgbClr val="94A3B8"/>
                </a:solidFill>
              </a:rPr>
              <a:t>Seamlessly links maker-checker logs across the entire thread lifecycle.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3: Centralized Attachments &amp; Document 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367 Indexed Documents: </a:t>
            </a:r>
            <a:r>
              <a:rPr sz="1100" b="0">
                <a:solidFill>
                  <a:srgbClr val="94A3B8"/>
                </a:solidFill>
              </a:rPr>
              <a:t>Covers fee receipts, center allotment lists, marksheet copies, and transfer certificates.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PyPDF Stream Parsing: </a:t>
            </a:r>
            <a:r>
              <a:rPr sz="1100" b="0">
                <a:solidFill>
                  <a:srgbClr val="94A3B8"/>
                </a:solidFill>
              </a:rPr>
              <a:t>Extracts structured tabular text, roll numbers, and challan transaction IDs within 1.2 seconds.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Local Quarantine: </a:t>
            </a:r>
            <a:r>
              <a:rPr sz="1100" b="0">
                <a:solidFill>
                  <a:srgbClr val="94A3B8"/>
                </a:solidFill>
              </a:rPr>
              <a:t>All files stored locally in sandboxed storage with SHA256 integrity verification. Zero cloud leak.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Document Actions: </a:t>
            </a:r>
            <a:r>
              <a:rPr sz="1100" b="0">
                <a:solidFill>
                  <a:srgbClr val="94A3B8"/>
                </a:solidFill>
              </a:rPr>
              <a:t>In-browser secure document preview and single-click individual or bulk ZIP download.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4: Maker-Checker Review &amp; Audit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Two-Tier Integrity Guard: </a:t>
            </a:r>
            <a:r>
              <a:rPr sz="1100" b="0">
                <a:solidFill>
                  <a:srgbClr val="94A3B8"/>
                </a:solidFill>
              </a:rPr>
              <a:t>Senior Developer Rohit executes technical tasks (Maker); Supervisor verifies and approves (Checker).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State Transition Dialog: </a:t>
            </a:r>
            <a:r>
              <a:rPr sz="1100" b="0">
                <a:solidFill>
                  <a:srgbClr val="94A3B8"/>
                </a:solidFill>
              </a:rPr>
              <a:t>Review modal allows status updates (Not started -&gt; In progress -&gt; Done / Revision Requested).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Checker Audit Notes: </a:t>
            </a:r>
            <a:r>
              <a:rPr sz="1100" b="0">
                <a:solidFill>
                  <a:srgbClr val="94A3B8"/>
                </a:solidFill>
              </a:rPr>
              <a:t>Reviewers input rationale and verification details into the permanent record.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Immutable Audit Ledger: </a:t>
            </a:r>
            <a:r>
              <a:rPr sz="1100" b="0">
                <a:solidFill>
                  <a:srgbClr val="94A3B8"/>
                </a:solidFill>
              </a:rPr>
              <a:t>Every state change, timestamp, and actor is appended to AuditMakerCheckerLog with zero edit capability.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5: Selective Mail Sync &amp; Operator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Datetime Boundary Selectors: </a:t>
            </a:r>
            <a:r>
              <a:rPr sz="1100" b="0">
                <a:solidFill>
                  <a:srgbClr val="94A3B8"/>
                </a:solidFill>
              </a:rPr>
              <a:t>Choose exact start and end datetimes (IST) and batch limits (e.g. 25 emails) for efficient runs.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Timezone Alignment: </a:t>
            </a:r>
            <a:r>
              <a:rPr sz="1100" b="0">
                <a:solidFill>
                  <a:srgbClr val="94A3B8"/>
                </a:solidFill>
              </a:rPr>
              <a:t>Automatically maps local IST (UTC+5:30) to RFC 822 UTC timestamps to eliminate boundary errors.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Real-Time Streaming Terminal: </a:t>
            </a:r>
            <a:r>
              <a:rPr sz="1100" b="0">
                <a:solidFill>
                  <a:srgbClr val="94A3B8"/>
                </a:solidFill>
              </a:rPr>
              <a:t>Live console output reflects each LangGraph state node as it executes in real-time.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Human-in-the-Loop Abort (🛑): </a:t>
            </a:r>
            <a:r>
              <a:rPr sz="1100" b="0">
                <a:solidFill>
                  <a:srgbClr val="94A3B8"/>
                </a:solidFill>
              </a:rPr>
              <a:t>Emergency stop button cleanly terminates the pipeline while preserving completed work in Postgres.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SCREEN FLOW WALKTHROUGH &amp; INTERACTIVE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Screen 6: Analytics, SLA Metrics &amp; 1-Click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Key Capabilities &amp; Design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4ADE80"/>
                </a:solidFill>
              </a:defRPr>
            </a:pPr>
            <a:r>
              <a:t>• Module Breakdown Charts: </a:t>
            </a:r>
            <a:r>
              <a:rPr sz="1100" b="0">
                <a:solidFill>
                  <a:srgbClr val="94A3B8"/>
                </a:solidFill>
              </a:rPr>
              <a:t>Visual breakdown of inquiries (Admissions 51.5%, Exams 26.1%, Fees 13.2%, Corrections 6.5%).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SLA Compliance Metric: </a:t>
            </a:r>
            <a:r>
              <a:rPr sz="1100" b="0">
                <a:solidFill>
                  <a:srgbClr val="94A3B8"/>
                </a:solidFill>
              </a:rPr>
              <a:t>99.4% of support inquiries resolved within target SLA windows (2.4h average turnaround).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1-Click Google Sheet Copy: </a:t>
            </a:r>
            <a:r>
              <a:rPr sz="1100" b="0">
                <a:solidFill>
                  <a:srgbClr val="94A3B8"/>
                </a:solidFill>
              </a:rPr>
              <a:t>Copies formatted TSV data directly to clipboard for instant Ctrl+V into official Google Sheets.</a:t>
            </a:r>
          </a:p>
          <a:p>
            <a:pPr>
              <a:defRPr sz="1200" b="1">
                <a:solidFill>
                  <a:srgbClr val="4ADE80"/>
                </a:solidFill>
              </a:defRPr>
            </a:pPr>
            <a:r>
              <a:t>• Styled Excel &amp; CSV Export: </a:t>
            </a:r>
            <a:r>
              <a:rPr sz="1100" b="0">
                <a:solidFill>
                  <a:srgbClr val="94A3B8"/>
                </a:solidFill>
              </a:rPr>
              <a:t>Downloads pre-formatted .xlsx with Navy executive headers, auto-widths, and cell borders.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Implementation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38BDF8"/>
                </a:solidFill>
              </a:defRPr>
            </a:pPr>
            <a:r>
              <a:t>⚙️ Component Design: </a:t>
            </a:r>
            <a:r>
              <a:rPr sz="1100" b="0">
                <a:solidFill>
                  <a:srgbClr val="FFFFFF"/>
                </a:solidFill>
              </a:rPr>
              <a:t>Built with modern Tailwind CSS dark mode and FontAwesome 6 icons. Ultra-clean typography and responsive sidebar layout.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Security Guarantee: </a:t>
            </a:r>
            <a:r>
              <a:rPr sz="1100" b="0">
                <a:solidFill>
                  <a:srgbClr val="FFFFFF"/>
                </a:solidFill>
              </a:rPr>
              <a:t>Zero real citizen emails or phone numbers exposed. Built-in Privacy Mask mode automatically sanitizes content for public demonstrations.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Data Resilience: </a:t>
            </a:r>
            <a:r>
              <a:rPr sz="1100" b="0">
                <a:solidFill>
                  <a:srgbClr val="FFFFFF"/>
                </a:solidFill>
              </a:rPr>
              <a:t>FastAPI async endpoints with SQLAlchemy session connection pooling and Pydantic v2 runtime type coercion.</a:t>
            </a:r>
          </a:p>
          <a:p>
            <a:pPr>
              <a:defRPr sz="1200" b="1">
                <a:solidFill>
                  <a:srgbClr val="38BDF8"/>
                </a:solidFill>
              </a:defRPr>
            </a:pPr>
            <a:r>
              <a:t>⚙️ Performance Tuning: </a:t>
            </a:r>
            <a:r>
              <a:rPr sz="1100" b="0">
                <a:solidFill>
                  <a:srgbClr val="FFFFFF"/>
                </a:solidFill>
              </a:rPr>
              <a:t>Sub-second UI responsiveness (&lt;45ms API latency) through indexed queries and client-side pagination.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ZERO-TRUST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Privacy, Security &amp; Local-First AI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100% AIR-GAPPED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Local Ollama instance running llama3.2:3b directly inside the local Docker stack.</a:t>
            </a:r>
            <a:br/>
            <a:br/>
            <a:r>
              <a:t>• Zero outbound API calls to OpenAI, Claude, or cloud servers.</a:t>
            </a:r>
            <a:br/>
            <a:br/>
            <a:r>
              <a:t>• Complies with strict government and enterprise data residency regulations.</a:t>
            </a:r>
            <a:br/>
            <a:br/>
            <a:r>
              <a:t>• Zero recurring token costs or cloud inference bills.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BUILT-IN PRIVACY MASK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One-click Privacy Mask toggle on the dashboard for public demos and video recordings.</a:t>
            </a:r>
            <a:br/>
            <a:br/>
            <a:r>
              <a:t>• Automatically masks email addresses (r***@gov.in), citizen roll numbers, and payment IDs.</a:t>
            </a:r>
            <a:br/>
            <a:br/>
            <a:r>
              <a:t>• Sanitizes logs and API payloads during demonstration modes.</a:t>
            </a:r>
            <a:br/>
            <a:br/>
            <a:r>
              <a:t>• Enables safe portfolio sharing on GitHub and personal resumes.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AUDIT &amp; ACCESS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Mandatory credential-based login gate for administrative actions.</a:t>
            </a:r>
            <a:br/>
            <a:br/>
            <a:r>
              <a:t>• Session management with vice-versa dynamic Login/Logout toggling.</a:t>
            </a:r>
            <a:br/>
            <a:br/>
            <a:r>
              <a:t>• Immutable audit logs with timestamp, operator ID, and action reason.</a:t>
            </a:r>
            <a:br/>
            <a:br/>
            <a:r>
              <a:t>• Full database backup and reset safeguards for disaster recovery.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PROVEN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Measurable Engineering Impact &amp; Operational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990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</a:defRPr>
            </a:pPr>
            <a:r>
              <a:t>742 Tasks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Successfully Ingested &amp;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990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85.8%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Multi-Day Threads Connected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990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7830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10x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Faster Turnaround (2.4h vs 48h)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99055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83080"/>
            <a:ext cx="23161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18CF8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Local Privacy &amp; Zero Cloud Leak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728655" cy="3200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Engineering Achievements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4ADE80"/>
                </a:solidFill>
              </a:defRPr>
            </a:pPr>
            <a:r>
              <a:t>🏆 Autonomous Execution: </a:t>
            </a:r>
            <a:r>
              <a:rPr sz="1200" b="0">
                <a:solidFill>
                  <a:srgbClr val="FFFFFF"/>
                </a:solidFill>
              </a:rPr>
              <a:t>Replaced hours of repetitive manual data entry with autonomous LangGraph pipelines executing every 2 hours or on-demand.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🏆 Multi-Day Attribution: </a:t>
            </a:r>
            <a:r>
              <a:rPr sz="1200" b="0">
                <a:solidFill>
                  <a:srgbClr val="FFFFFF"/>
                </a:solidFill>
              </a:rPr>
              <a:t>Eliminated lost effort by automatically calculating Day +N milestones, preserving historical trail context, and crediting daily operational contributions.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🏆 Zero Operating Cost: </a:t>
            </a:r>
            <a:r>
              <a:rPr sz="1200" b="0">
                <a:solidFill>
                  <a:srgbClr val="FFFFFF"/>
                </a:solidFill>
              </a:rPr>
              <a:t>Eliminated expensive recurring cloud SaaS/LLM subscriptions by orchestrating local Ollama models on commodity hardware.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🏆 Executive Leadership Ready: </a:t>
            </a:r>
            <a:r>
              <a:rPr sz="1200" b="0">
                <a:solidFill>
                  <a:srgbClr val="FFFFFF"/>
                </a:solidFill>
              </a:rPr>
              <a:t>Standardized reporting into 1-click Google Sheet and styled Excel spreadsheets, enabling instant executive sign-offs.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Calibri"/>
              </a:defRPr>
            </a:pPr>
            <a:r>
              <a:t>PROJECT SHOWCASE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Rohit Jain: Engineering Leadership &amp; Portfolio Resume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Ready-to-Use Resume &amp; LinkedIn Accomplishment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4ADE80"/>
                </a:solidFill>
              </a:defRPr>
            </a:pPr>
            <a:r>
              <a:t>• Architected &amp; Deployed Autonomous AI Support Platform: </a:t>
            </a:r>
            <a:r>
              <a:rPr sz="1200" b="0">
                <a:solidFill>
                  <a:srgbClr val="FFFFFF"/>
                </a:solidFill>
              </a:rPr>
              <a:t>Built an enterprise-grade AI mail automation microservice utilizing Python, FastAPI, LangGraph, and PostgreSQL, orchestrating ingestion, parameter extraction, and resolution tracking for 740+ mission-critical support tasks with 99.4% SLA adherence.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• Pioneered Multi-Day Thread Intelligence Engine: </a:t>
            </a:r>
            <a:r>
              <a:rPr sz="1200" b="0">
                <a:solidFill>
                  <a:srgbClr val="FFFFFF"/>
                </a:solidFill>
              </a:rPr>
              <a:t>Engineered an algorithmic thread continuity and day-offset engine that resolved an 85.8% multi-day follow-up challenge, tracking and linking parent-child email threads (Day 1 Initial -&gt; Day +N Follow-up) and dynamically attributing daily operational effort.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• Implemented Zero-Trust Local LLM Ingestion: </a:t>
            </a:r>
            <a:r>
              <a:rPr sz="1200" b="0">
                <a:solidFill>
                  <a:srgbClr val="FFFFFF"/>
                </a:solidFill>
              </a:rPr>
              <a:t>Integrated local Ollama (llama3.2:3b) with Pydantic guardrails and PyPDF document parsers, achieving sub-second extraction of ticket categories, urgency levels, and payment confirmations with zero data leakage or cloud token cost.</a:t>
            </a:r>
          </a:p>
          <a:p>
            <a:pPr>
              <a:defRPr sz="1300" b="1">
                <a:solidFill>
                  <a:srgbClr val="4ADE80"/>
                </a:solidFill>
              </a:defRPr>
            </a:pPr>
            <a:r>
              <a:t>• Built Maker-Checker Governance &amp; Dual-View UI: </a:t>
            </a:r>
            <a:r>
              <a:rPr sz="1200" b="0">
                <a:solidFill>
                  <a:srgbClr val="FFFFFF"/>
                </a:solidFill>
              </a:rPr>
              <a:t>Designed a two-tier review system with immutable PostgreSQL audit trails, alongside a responsive Tailwind CSS dashboard featuring 1-click Google Sheets TSV copying, OpenPyXL styled Excel exports, and operator cancellation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